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300" kern="0" dirty="0">
                <a:solidFill>
                  <a:srgbClr val="00F0FF"/>
                </a:solidFill>
                <a:effectLst>
                  <a:glow rad="762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▒  A  P R O P O S A L  F O R  W O R L D  L I B E R T Y  F I N A N C I A L  ▒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800" kern="0" dirty="0">
                <a:solidFill>
                  <a:srgbClr val="FFFFFF"/>
                </a:solidFill>
                <a:effectLst>
                  <a:glow rad="2540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AGENTIC  FINANCE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74320" y="1691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500" kern="0" dirty="0">
                <a:solidFill>
                  <a:srgbClr val="00F0FF"/>
                </a:solidFill>
                <a:effectLst>
                  <a:glow rad="1270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USD1  ×  AUTONOMOUS  AGENTS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2103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FFE66D"/>
                </a:solidFill>
                <a:effectLst>
                  <a:glow rad="76200">
                    <a:srgbClr val="FFE66D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AGENTIC PAYMENTS BOT  ·  x402 · MPP · AP2 · A2A · MCP  ·  ERC-8004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43434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2E93"/>
                </a:solidFill>
                <a:effectLst>
                  <a:glow rad="88900">
                    <a:srgbClr val="FF2E93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SENTIENT-AGI  ·  github.com/sentient-agi/agentic-payments-bot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00F0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THESIS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· WHY NOW · WHY WLFI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07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00F0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$4.5B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84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USD1 in circulation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stablecoin · fastest-growing of the period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07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2E93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$600M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1984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x402 annualized volume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154M machine payments across Base + Solana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07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39FF14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97M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35040" y="1984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MCP SDK pulls / month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951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agent client speaks the stack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F0FF"/>
                </a:solidFill>
                <a:effectLst>
                  <a:glow rad="63500">
                    <a:srgbClr val="00F0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AGENTS ARE THE NEXT CUSTOMERS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49040" y="29718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becoming the primary interface for every business — WLFI's own AgentPay vision. They transact 24/7, at machine speed, in machine sizes.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5943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2E93"/>
                </a:solidFill>
                <a:effectLst>
                  <a:glow rad="63500">
                    <a:srgbClr val="FF2E93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MACHINE ECONOMY NEEDS A COMPLIANT DOLLAR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49040" y="3657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and MPP settle in stablecoins. A regulated, treasury-backed, attestation-audited dollar is the natural reserve asset — that dollar is USD1.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434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9FF14"/>
                </a:solidFill>
                <a:effectLst>
                  <a:glow rad="63500">
                    <a:srgbClr val="39FF14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WE BRING THE MISSING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43434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 agent payment skill: three protocols (x402 · MPP · AP2) as both client and server, many payment backends, policy enforcement, on-chain trust — Apache-2.0.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00F0FF"/>
                </a:solidFill>
                <a:effectLst>
                  <a:glow rad="1524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FFFFFF"/>
                </a:solidFill>
                <a:effectLst>
                  <a:glow rad="228600">
                    <a:srgbClr val="00F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WORLD LIBERTY FINANCIAL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WHERE DEFI MEETS TRADFI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WORLD  LIBERTY  FINANCIAL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SNAPSHOT — OUR READ OF YOUR PLATFORM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“Where DeFi meets TradFi”  —  </a:t>
            </a:r>
            <a:pPr indent="0" marL="0">
              <a:buNone/>
            </a:pPr>
            <a:r>
              <a:rPr lang="en-US" sz="115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legacy finance and the open economy with purpose-built, onchain products, for institutions and individuals alike.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023360" cy="1280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12801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76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REGULATED CORE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USD1 issued via BitGo Trust Company (regulated SD trust). Reserves: cash + short-term US Treasuries in government money-market funds. Monthly attestations + real-time proof of reserves.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4023360" cy="1280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2103120"/>
            <a:ext cx="54864" cy="12801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1762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7DFF"/>
                </a:solidFill>
                <a:effectLst>
                  <a:glow rad="76200">
                    <a:srgbClr val="C77D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COMMUNITY GOVERNED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51460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WLFI token holders propose, review, and vote — the token became tradable through a governance vote. Institutional posture with an open-governance base.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023360" cy="1280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54864" cy="12801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E93"/>
                </a:solidFill>
                <a:effectLst>
                  <a:glow rad="762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MULTICHAIN BY DESIGN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319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· BNB Chain · Solana, expanding via Chainlink CCIP. Bridge and convert tools ship as first-class products, not afterthoughts.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3520440"/>
            <a:ext cx="4023360" cy="1280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3520440"/>
            <a:ext cx="54864" cy="1280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5935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AGENT-FORWARD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3931920"/>
            <a:ext cx="3703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AgentPay SDK already live: policy enforcement, human approval, plugin architecture, TEE / Secure Enclave signing. The strategic intent is declared.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Miami, FL  ·  fintech + DeFi protocol  ·  flagship: USD1 digital dollar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PRODUCT  PORTFOLIO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SURFACES — ONE ONCHAIN FINANCE STACK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53619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536192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F0FF"/>
                </a:solidFill>
                <a:effectLst>
                  <a:glow rad="76200">
                    <a:srgbClr val="00F0FF">
                      <a:alpha val="85000"/>
                    </a:srgbClr>
                  </a:glow>
                </a:effectLst>
              </a:rPr>
              <a:t>◆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USD1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US-dollar stablecoin for a new era of finance — stable, secure, transparent by design. Zero-fee mint &amp; redeem.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53619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54864" cy="153619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7DFF"/>
                </a:solidFill>
                <a:effectLst>
                  <a:glow rad="76200">
                    <a:srgbClr val="C77DFF">
                      <a:alpha val="85000"/>
                    </a:srgbClr>
                  </a:glow>
                </a:effectLst>
              </a:rPr>
              <a:t>▲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13048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WLFI TOKEN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92424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asset — now tradable by community vote. Steers the platform across ETH · BSC · Solana.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153619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80160"/>
            <a:ext cx="54864" cy="153619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81344" y="1371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E66D"/>
                </a:solidFill>
                <a:effectLst>
                  <a:glow rad="76200">
                    <a:srgbClr val="FFE66D">
                      <a:alpha val="85000"/>
                    </a:srgbClr>
                  </a:glow>
                </a:effectLst>
              </a:rPr>
              <a:t>■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01968" y="137160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WLFI MARKETS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181344" y="18288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assets for rewards or borrow against collateral — lending infrastructure provided by Dolomite.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651760" cy="153619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971800"/>
            <a:ext cx="54864" cy="153619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9FF14"/>
                </a:solidFill>
                <a:effectLst>
                  <a:glow rad="76200">
                    <a:srgbClr val="39FF14">
                      <a:alpha val="85000"/>
                    </a:srgbClr>
                  </a:glow>
                </a:effectLst>
              </a:rPr>
              <a:t>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24128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AGENTPAY SDK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03504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SDK: agents hold funds and pay with policy enforcement and built-in human approval.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971800"/>
            <a:ext cx="2651760" cy="153619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46120" y="2971800"/>
            <a:ext cx="54864" cy="1536192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92424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2E93"/>
                </a:solidFill>
                <a:effectLst>
                  <a:glow rad="76200">
                    <a:srgbClr val="FF2E93">
                      <a:alpha val="85000"/>
                    </a:srgbClr>
                  </a:glow>
                </a:effectLst>
              </a:rPr>
              <a:t>◉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813048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WLFI APP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392424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 — use crypto via wallet or bank account; spend by accessing liquidity anytime.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971800"/>
            <a:ext cx="2651760" cy="153619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971800"/>
            <a:ext cx="54864" cy="1536192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1344" y="3063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FF"/>
                </a:solidFill>
                <a:effectLst>
                  <a:glow rad="76200">
                    <a:srgbClr val="FF00FF">
                      <a:alpha val="85000"/>
                    </a:srgbClr>
                  </a:glow>
                </a:effectLst>
              </a:rPr>
              <a:t>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601968" y="3063240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BRIDGE &amp; CONVERT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181344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USD1 / WLFI across integrated networks; swap in and out of the ecosystem.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assets, the rails, and the retail surface exist — the agent layer is the next chapter.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USD1  —  THE  ASSET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REGULATED DIGITAL DOLLAR AT SCALE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07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39FF14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$4.5B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984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circulating supply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2951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 in Q1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307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00F0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#4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246120" y="1984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stablecoin by mkt cap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37560" y="22951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surpassed PayPal's PYUSD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51760" cy="15087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1307592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200" kern="0" dirty="0">
                <a:solidFill>
                  <a:srgbClr val="FF2E93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$2B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6035040" y="198424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MGX → Binance deal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229514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 officially in USD1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926080"/>
            <a:ext cx="54864" cy="5943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TRUST STRUCTURE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063240" y="297180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and legally managed by BitGo Trust Company; reserves in cash + short-duration Treasuries; dynamic liquidity managed with Fidelity money-market funds.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11880"/>
            <a:ext cx="54864" cy="59436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57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E66D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COMPLIANCE POSTURE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063240" y="365760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GENIUS-Act-style frameworks: monthly reserve disclosures, audits, AML/KYC via regulated custody — the profile institutions can sign off 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97680"/>
            <a:ext cx="54864" cy="5943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77D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063240" y="4343400"/>
            <a:ext cx="5532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Ethereum, BNB Chain, Solana with Chainlink CCIP interoperability; deep exchange integrations and a growing lending footprint.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STRATEGIC 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PRODUCT SERVES HUMANS — THE NEXT CUSTOMERS ARE MACHINES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2880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28803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F0FF"/>
                </a:solidFill>
                <a:effectLst>
                  <a:glow rad="88900">
                    <a:srgbClr val="00F0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WHAT  EXISTS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182880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USD1 — a compliant settlement asset at $4.5B scale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bridge, convert — the liquidity rails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WLFI App — the human retail surface (soon)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51760" cy="2880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280160"/>
            <a:ext cx="54864" cy="288036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E66D"/>
                </a:solidFill>
                <a:effectLst>
                  <a:glow rad="88900">
                    <a:srgbClr val="FFE66D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SIGNAL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7288" y="182880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AgentPay SDK ships: policy engine, approvals, TEE signing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“AI agents are becoming the primary interface for every business”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Open-by-default stance — plugins, adapters, integrations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51760" cy="2880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280160"/>
            <a:ext cx="54864" cy="28803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99632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2E93"/>
                </a:solidFill>
                <a:effectLst>
                  <a:glow rad="88900">
                    <a:srgbClr val="FF2E93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GAP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6208" y="1828800"/>
            <a:ext cx="233172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stack speaking x402 / MPP / AP2 — as client or server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A2A discovery or ERC-8004 on-chain trust for agents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MCP context plane feeding rates &amp; data into policy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spc="1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proposal: close the gap with one open-source skill — and make USD1 the default settlement asset of the agent economy.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C77DFF"/>
                </a:solidFill>
                <a:effectLst>
                  <a:glow rad="1524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400" kern="0" dirty="0">
                <a:solidFill>
                  <a:srgbClr val="FFFFFF"/>
                </a:solidFill>
                <a:effectLst>
                  <a:glow rad="228600">
                    <a:srgbClr val="C77D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PROPOSAL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FFE66D"/>
                </a:solidFill>
                <a:effectLst>
                  <a:glow rad="101600">
                    <a:srgbClr val="FFE66D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AGENTIC PAYMENTS BOT  ·  SENTIENT-AGI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AGENTIC  PAYMENTS  BOT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TRIPLE PROTOCOL · CLIENT &amp; SERVER · OPEN AGENT SKILLS ECOSYSTEM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7315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78638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triple-protocol (x402 + MPP + AP2) agentic payment service. Agents autonomously initiate, validate, and execute payments across web3 and web2 rails — and monetize their own services on the same protocols. AWS KMS key custody, a deterministic policy engine, an immutable audit trail, human-in-the-loop confirmation.  Apache-2.0 · TypeScript · Docker-ready · ships as a SKILL.md for any agent client.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51760" cy="117043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057400"/>
            <a:ext cx="54864" cy="1170432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1305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F0FF"/>
                </a:solidFill>
                <a:effectLst>
                  <a:glow rad="76200">
                    <a:srgbClr val="00F0FF">
                      <a:alpha val="85000"/>
                    </a:srgbClr>
                  </a:glow>
                </a:effectLst>
              </a:rPr>
              <a:t>▲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213055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TRIPLE PROTOCOL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MPP + AP2 behind one paymentIntent schema — best rail wins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2057400"/>
            <a:ext cx="2651760" cy="117043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057400"/>
            <a:ext cx="54864" cy="1170432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1305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2E93"/>
                </a:solidFill>
                <a:effectLst>
                  <a:glow rad="76200">
                    <a:srgbClr val="FF2E93">
                      <a:alpha val="85000"/>
                    </a:srgbClr>
                  </a:glow>
                </a:effectLst>
              </a:rPr>
              <a:t>◆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94760" y="213055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CLIENT + SERVER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92424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 for services and charges for its own — both sides of every rail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651760" cy="117043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057400"/>
            <a:ext cx="54864" cy="117043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81344" y="213055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E66D"/>
                </a:solidFill>
                <a:effectLst>
                  <a:glow rad="76200">
                    <a:srgbClr val="FFE66D">
                      <a:alpha val="85000"/>
                    </a:srgbClr>
                  </a:glow>
                </a:effectLst>
              </a:rPr>
              <a:t>■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83680" y="213055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MULTI-BACKEND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81344" y="253288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for EVM chains · Solana · Stripe · PayPal · Visa · Mastercard — one router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355848"/>
            <a:ext cx="2651760" cy="117043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55848"/>
            <a:ext cx="54864" cy="1170432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" y="34290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9FF14"/>
                </a:solidFill>
                <a:effectLst>
                  <a:glow rad="76200">
                    <a:srgbClr val="39FF14">
                      <a:alpha val="85000"/>
                    </a:srgbClr>
                  </a:glow>
                </a:effectLst>
              </a:rPr>
              <a:t>●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05840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POLICY 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" y="38313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Per-tx limits · daily / weekly / monthly aggregates · blacklists · time windows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355848"/>
            <a:ext cx="2651760" cy="117043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46120" y="3355848"/>
            <a:ext cx="54864" cy="1170432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4290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7DFF"/>
                </a:solidFill>
                <a:effectLst>
                  <a:glow rad="76200">
                    <a:srgbClr val="C77DFF">
                      <a:alpha val="85000"/>
                    </a:srgbClr>
                  </a:glow>
                </a:effectLst>
              </a:rPr>
              <a:t>◉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3794760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KMS + AUDIT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92424" y="38313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 ECDSA signing — keys never leave the HSM; SQLite immutable log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0" y="3355848"/>
            <a:ext cx="2651760" cy="1170432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3355848"/>
            <a:ext cx="54864" cy="1170432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34290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00FF"/>
                </a:solidFill>
                <a:effectLst>
                  <a:glow rad="76200">
                    <a:srgbClr val="FF00FF">
                      <a:alpha val="85000"/>
                    </a:srgbClr>
                  </a:glow>
                </a:effectLst>
              </a:rPr>
              <a:t>★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6583680" y="3429000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81344" y="38313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confirmation thresholds — agent alone or with approval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1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in:  Claude Code · Codex · Junie · OpenCode · GitHub Copilot · Gemini CLI · OpenClaw  —  one skill, every client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THREE  PROTOCOLS  ×  TWO 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RAIL, BOTH DIRECTIONS — THE BOT PAYS AND GETS PAID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2E93"/>
                </a:solidFill>
                <a:effectLst>
                  <a:glow rad="152400">
                    <a:srgbClr val="FF2E93">
                      <a:alpha val="9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12344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10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CLIENT  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084832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402 challenges, signs payment payloads via KMS, retries with PAYMENT-SIGNATURE — consumes any paid API.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6517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3063240"/>
            <a:ext cx="54864" cy="12344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136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SERVER  ▲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410712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the agent's own endpoints behind HTTP 402 — monetizes skills per call, settles in stablecoins.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46120" y="1207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C77DFF"/>
                </a:solidFill>
                <a:effectLst>
                  <a:glow rad="152400">
                    <a:srgbClr val="C77DFF">
                      <a:alpha val="9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MPP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3246120" y="1737360"/>
            <a:ext cx="26517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737360"/>
            <a:ext cx="54864" cy="12344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10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CLIENT  ▼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83280" y="2084832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sessions, streams signed micropayments against a pre-authorized budget — thousands of calls, one settlement.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3063240"/>
            <a:ext cx="26517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46120" y="3063240"/>
            <a:ext cx="54864" cy="12344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136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SERVER  ▲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83280" y="3410712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sessions and meters usage — sells inference, data, and agent work by the unit.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12070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39FF14"/>
                </a:solidFill>
                <a:effectLst>
                  <a:glow rad="152400">
                    <a:srgbClr val="39FF14">
                      <a:alpha val="9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AP2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035040" y="1737360"/>
            <a:ext cx="26517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35040" y="1737360"/>
            <a:ext cx="54864" cy="12344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810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CLIENT  ▼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172200" y="2084832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and signs Intent Mandates; executes charges through web2 gateways under user delegation.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3063240"/>
            <a:ext cx="26517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35040" y="3063240"/>
            <a:ext cx="54864" cy="12344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13639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SERVER  ▲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72200" y="3410712"/>
            <a:ext cx="2395728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mandates as a merchant — a verifiable evidence chain behind every sale.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453128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 BACKENDS  —  </a:t>
            </a:r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(Ethereum · BNB Chain · Base · Polygon · Arbitrum) · Solana · Stripe · PayPal · Visa · Mastercard — one router, one policy engine, one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spc="400" kern="0" dirty="0">
                <a:solidFill>
                  <a:srgbClr val="FFFFFF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PIPELINE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AGENT INTENT TO SETTLED PAYMENT — EVERY STEP GATED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0FF"/>
                </a:solidFill>
                <a:effectLst>
                  <a:glow rad="88900">
                    <a:srgbClr val="00F0FF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OUTPUT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emits paymentIntent JSON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572768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64208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64208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7DFF"/>
                </a:solidFill>
                <a:effectLst>
                  <a:glow rad="88900">
                    <a:srgbClr val="C77DFF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09928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ZOD VALIDATE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09928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type safety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79776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871216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71216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2E93"/>
                </a:solidFill>
                <a:effectLst>
                  <a:glow rad="88900">
                    <a:srgbClr val="FF2E93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16936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ROUTER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16936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· MPP · AP2 — best rail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86784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078224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78224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E66D"/>
                </a:solidFill>
                <a:effectLst>
                  <a:glow rad="88900">
                    <a:srgbClr val="FFE66D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123944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POLICY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23944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· time · lists · YAML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93792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285232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9FF14"/>
                </a:solidFill>
                <a:effectLst>
                  <a:glow rad="88900">
                    <a:srgbClr val="39FF14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30952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HITL GATE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30952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Threshold? → await human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400800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92240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3377"/>
                </a:solidFill>
                <a:effectLst>
                  <a:glow rad="88900">
                    <a:srgbClr val="FF3377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KMS SIGN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537960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KMS ECDSA signature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607808" y="1783080"/>
            <a:ext cx="9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F0FF"/>
                </a:solidFill>
                <a:effectLst>
                  <a:glow rad="63500">
                    <a:srgbClr val="00F0FF">
                      <a:alpha val="80000"/>
                    </a:srgbClr>
                  </a:glow>
                </a:effectLst>
              </a:rPr>
              <a:t>▸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99248" y="1280160"/>
            <a:ext cx="1115568" cy="14630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99248" y="1371600"/>
            <a:ext cx="11155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00FF"/>
                </a:solidFill>
                <a:effectLst>
                  <a:glow rad="88900">
                    <a:srgbClr val="FF00FF">
                      <a:alpha val="8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744968" y="1691640"/>
            <a:ext cx="1024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EXECUTE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744968" y="2084832"/>
            <a:ext cx="1024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Viem / Stripe / PayPal settle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F0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TRANSACTION  STATE  MACHINE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14884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4884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policy_check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84048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4048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awaiting_confirmation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9496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53212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3212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086600" y="3291840"/>
            <a:ext cx="137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9FF14"/>
                </a:solidFill>
              </a:rPr>
              <a:t>→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223760" y="3291840"/>
            <a:ext cx="155448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3291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286000" y="3977640"/>
            <a:ext cx="1554480" cy="457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rejected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669280" y="3977640"/>
            <a:ext cx="1554480" cy="457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3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↳ failed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457200" y="4572000"/>
            <a:ext cx="402336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· transactions (id · protocol · gateway · amount · status · tx_hash)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663440" y="4572000"/>
            <a:ext cx="402336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45720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· audit_log (timestamp · level · category · action · actor · details)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POLICY  IS  COMPLIANCE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ENGINE SPEAKS TRADFI NATIVELY — A CONTROL FOR EVERY CONTROL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Per-tx · daily · weekly · monthly limits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434840" y="1280160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09160" y="1280160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280160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&amp; velocity limits — position caps an examiner recognizes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47088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4708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Blacklists · destination allowlists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34840" y="1847088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09160" y="1847088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47088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&amp; counterparty screening (OFAC-style lists as YAML)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14016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1401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Time-window rules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34840" y="2414016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9160" y="2414016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414016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Trading-hours controls &amp; change-freeze windows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2980944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98094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 confirmation thresholds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2980944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09160" y="2980944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80944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Four-eyes / maker-checker approval above materiality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547872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547872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Immutable SQLite audit_log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434840" y="3547872"/>
            <a:ext cx="274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effectLst>
                  <a:glow rad="63500">
                    <a:srgbClr val="00F0FF">
                      <a:alpha val="70000"/>
                    </a:srgbClr>
                  </a:glow>
                </a:effectLst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09160" y="3547872"/>
            <a:ext cx="3977640" cy="49377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547872"/>
            <a:ext cx="3749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Examinable audit trail — every decision, actor, and transition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279392"/>
            <a:ext cx="7863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NATIVE FIT WITH AGENTPAY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WLFI's own policy TUI reads:  USD1 per-tx 10 · daily 100 · weekly 700 · manual approval &gt; 50.  Identical semantics, identical mental model — the skill drops into the AgentPay policy language with zero translation.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FF2E93"/>
                </a:solidFill>
                <a:effectLst>
                  <a:glow rad="1524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III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effectLst>
                  <a:glow rad="2286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PROTOCOL STACK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x402  ·  MPP  ·  AP2  ·  A2A  ·  MCP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2E93"/>
                </a:solidFill>
                <a:effectLst>
                  <a:glow rad="2286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effectLst>
                  <a:glow rad="76200">
                    <a:srgbClr val="FF2E93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MACHINE-SPEED SETTLEMENT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Coinbase · 2025 · HTTP 402 revived · the payment handshake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1627632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0352" y="16916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REQUEST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020824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calls a gated endpoint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76272" y="1234440"/>
            <a:ext cx="1627632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6272" y="13075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2E93"/>
                </a:solidFill>
                <a:effectLst>
                  <a:glow rad="1016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49424" y="16916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49424" y="2020824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replies PAYMENT-REQUIRED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95344" y="1234440"/>
            <a:ext cx="1627632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95344" y="13075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C77DFF"/>
                </a:solidFill>
                <a:effectLst>
                  <a:glow rad="101600">
                    <a:srgbClr val="C77D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968496" y="16916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SIGN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68496" y="2020824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signed via KMS wallet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614416" y="1234440"/>
            <a:ext cx="1627632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14416" y="13075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FFE66D"/>
                </a:solidFill>
                <a:effectLst>
                  <a:glow rad="101600">
                    <a:srgbClr val="FFE66D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687568" y="16916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VERIFY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87568" y="2020824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check — EIP-3009 / Permit2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33488" y="1234440"/>
            <a:ext cx="1627632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3488" y="130759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300" kern="0" dirty="0">
                <a:solidFill>
                  <a:srgbClr val="39FF14"/>
                </a:solidFill>
                <a:effectLst>
                  <a:glow rad="101600">
                    <a:srgbClr val="39FF14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05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06640" y="1691640"/>
            <a:ext cx="14813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DELIVER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020824"/>
            <a:ext cx="148132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resource + receipt header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3017520"/>
            <a:ext cx="1993392" cy="9144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$0.0001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0352" y="358444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per-tx settlement cost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42032" y="3017520"/>
            <a:ext cx="1993392" cy="9144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42032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&lt; 2 sec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2615184" y="358444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finality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26864" y="3017520"/>
            <a:ext cx="1993392" cy="9144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26864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154M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4700016" y="358444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/ yr across Base + Solana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11696" y="3017520"/>
            <a:ext cx="1993392" cy="9144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11696" y="3108960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$600M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6784848" y="3584448"/>
            <a:ext cx="18470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annualized volume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187952"/>
            <a:ext cx="7863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USD1 ANGLE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settles in EIP-3009-capable stablecoins. USD1 on Ethereum, BNB Chain, and Solana can be the settlement asset behind every gated API, dataset, and inference call — regulated dollars at machine speed.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C77DFF"/>
                </a:solidFill>
                <a:effectLst>
                  <a:glow rad="228600">
                    <a:srgbClr val="C77D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MPP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effectLst>
                  <a:glow rad="76200">
                    <a:srgbClr val="C77D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MACHINE PAYMENTS PROTOCOL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 + Tempo · 2026 · IETF draft · the settlement + session layer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10972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09728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SESSIONS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Pre-authorize a budget once → stream thousands of signed micropayments off-chain → one on-chain settlement.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23360" cy="10972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234440"/>
            <a:ext cx="54864" cy="109728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E93"/>
                </a:solidFill>
                <a:effectLst>
                  <a:glow rad="762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METHOD-AGNOSTIC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164592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Stablecoins, fiat via Stripe Shared Payment Tokens, Lightning, cards — one HTTP interface for all rails.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4023360" cy="10972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68880"/>
            <a:ext cx="54864" cy="109728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542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NO FACILITATOR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288036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verification is a first-class protocol primitive — no third-party facilitator in the trust path.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468880"/>
            <a:ext cx="4023360" cy="10972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3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468880"/>
            <a:ext cx="54864" cy="1097280"/>
          </a:xfrm>
          <a:prstGeom prst="rect">
            <a:avLst/>
          </a:prstGeom>
          <a:solidFill>
            <a:srgbClr val="FF3377"/>
          </a:solidFill>
          <a:ln w="12700">
            <a:solidFill>
              <a:srgbClr val="FF3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54203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3377"/>
                </a:solidFill>
                <a:effectLst>
                  <a:glow rad="76200">
                    <a:srgbClr val="FF3377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x402-COMPATIBLE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2880360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Backward-compatible with x402's charge flow; MPP clients consume existing x402 services unchanged.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13632"/>
            <a:ext cx="7863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BOT + WLFI ANGLE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speaks MPP today, as client and as server. MPP sessions are the natural spending-budget primitive for the WLFI App: authorize once, let an agent stream USD1 payments under policy — no checkout, no cart, no friction.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spc="1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Day-one adopters: OpenAI · Anthropic · Google Gemini · Visa · Mastercard · Lightspark → 100+ listed services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39FF14"/>
                </a:solidFill>
                <a:effectLst>
                  <a:glow rad="228600">
                    <a:srgbClr val="39FF14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AP2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effectLst>
                  <a:glow rad="76200">
                    <a:srgbClr val="39FF14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 PAYMENTS PROTOCOL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+ 60 partners · 2025 · the trust / authorization layer — TradFi's rail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21031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21031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effectLst>
                  <a:glow rad="76200">
                    <a:srgbClr val="00F0FF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INTENT  MANDATE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“Buy X under $100.”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initial intent — ceiling, timing, constraints. Signed upfront by the human.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234440"/>
            <a:ext cx="2651760" cy="21031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234440"/>
            <a:ext cx="54864" cy="210312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effectLst>
                  <a:glow rad="76200">
                    <a:srgbClr val="FF2E93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CART  MANDATE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Locks items + final price.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423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cryptographically signs the cart — a guarantee of fulfillment.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234440"/>
            <a:ext cx="2651760" cy="21031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234440"/>
            <a:ext cx="54864" cy="210312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325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16002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effectLst>
                  <a:glow rad="76200">
                    <a:srgbClr val="FFE66D">
                      <a:alpha val="5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PAYMENT  MANDATE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201168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Authorizes settlement.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0" y="242316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network; signals agent-presence so issuers can price risk and route rails.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593592"/>
            <a:ext cx="7863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TRADFI ANGLE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form a non-repudiable evidence chain (intent → cart → payment) that regulators and card networks understand. AP2's partner set — Mastercard, Amex, PayPal, Coinbase — mirrors WLFI's institutional orbit.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skill today: the AP2 rail drives Stripe · PayPal · Visa · Mastercard gateways under one policy engine.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00F0FF"/>
                </a:solidFill>
                <a:effectLst>
                  <a:glow rad="228600">
                    <a:srgbClr val="00F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A2A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effectLst>
                  <a:glow rad="76200">
                    <a:srgbClr val="00F0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AGENT-TO-AGENT PROTOCOL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· Linux Foundation · bot ↔ bot interactions &amp; skills discovery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40233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123444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 CARDS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1645920"/>
            <a:ext cx="3794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manifest at /.well-known/agent.json — the agent's business card: skills, endpoint, auth. This is how the payments bot gets discovered.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234440"/>
            <a:ext cx="40233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234440"/>
            <a:ext cx="54864" cy="12344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13075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2E93"/>
                </a:solidFill>
                <a:effectLst>
                  <a:glow rad="762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SKILLS DISCOVERY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82312" y="1645920"/>
            <a:ext cx="3794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agents query capabilities before engaging — “can you settle USD1 over x402?” answered protocol-natively.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40233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606040"/>
            <a:ext cx="54864" cy="12344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6791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TASKS &amp; PARTS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" y="3017520"/>
            <a:ext cx="3794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Task objects with lifecycles; multipart messages carry text, JSON, files across the agent mesh.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2606040"/>
            <a:ext cx="4023360" cy="1234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606040"/>
            <a:ext cx="54864" cy="123444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67919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E66D"/>
                </a:solidFill>
                <a:effectLst>
                  <a:glow rad="76200">
                    <a:srgbClr val="FFE66D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TRANSPORTS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82312" y="3017520"/>
            <a:ext cx="37947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+ SSE + JSON-RPC with OAuth 2.0, PKCE, API keys out of the box. No reinvention.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187952"/>
            <a:ext cx="7863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UPCOMING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support arrives in one of the bot's next releases: the skill publishes its Agent Card, exposes payment capabilities for discovery, and negotiates bot-to-bot settlements — paired with ERC-8004 identity (next section).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COMPOSABLE  FINANCE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MONEY LEGOS FOR AGENTS — DISCOVER · COMPOSE · SETTLE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69164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DISCOVER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find financial skills through A2A Agent Cards — payments, FX, custody, lending, invoicing — queried protocol-natively, no directories, no integrations.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280160"/>
            <a:ext cx="54864" cy="169164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101600">
                    <a:srgbClr val="C77D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COMPOSE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+ server duality makes skills stackable: every bot consumes services and provides its own. Financial workflows assemble like functions.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16916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80160"/>
            <a:ext cx="54864" cy="16916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3716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72200" y="16459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effectLst>
                  <a:glow rad="1016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SETTLE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9572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ends in settlement — x402, MPP, or AP2, chosen per hop. USD1 as the common denominator keeps multi-agent flows in one compliant unit.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2004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COMPOSITION, END TO END  —  </a:t>
            </a:r>
            <a:endParaRPr lang="en-US" sz="1050" dirty="0"/>
          </a:p>
          <a:p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treasury agent discovers an FX-quotes bot and this payments bot via A2A · pulls conversion context · rebalances a USD1 position on WLFI Markets · pays suppliers over x402 · meters its own advisory service to other agents over MPP — every hop policy-gated and audit-logged.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spc="1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agent is both a customer and a merchant. Server mode turns each skill into a revenue-bearing primitive; A2A discovery turns the mesh into a market.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spc="400" kern="0" dirty="0">
                <a:solidFill>
                  <a:srgbClr val="C77DFF"/>
                </a:solidFill>
                <a:effectLst>
                  <a:glow rad="228600">
                    <a:srgbClr val="C77D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MCP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2560320" y="27432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effectLst>
                  <a:glow rad="76200">
                    <a:srgbClr val="C77D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MODEL CONTEXT PROTOCOL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560320" y="68580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 · the context layer — data &amp; AI-system integration, NOT payments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⚠  A DELIBERATE SEPARATION — MCP moves context between models, data sources, and other AI systems. Value transfer lives in x402 / MPP / AP2. The bot keeps these planes apart by design.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23360" cy="22860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4864" cy="22860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FX-RATES  ORACLE  VIA  MCP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with the bot's MCP support (upcoming release) — the flagship context integration: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+ crypto rates streamed into the agent's context window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normalizes limits across currencies (USD1 / EUR / BNB…)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quotes priced before any payment intent is emitted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inform decisions — they never touch the settlement path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023360" cy="22860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828800"/>
            <a:ext cx="54864" cy="228600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9019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ONE  PORT,  MANY  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286000"/>
            <a:ext cx="370332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i="1" dirty="0">
                <a:solidFill>
                  <a:srgbClr val="FFE6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MCP port connects the bot to the wider world: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data, chain indexers, compliance / sanctions feeds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 systems and agents exposed as MCP servers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WLFI internal systems: reserves dashboards, Markets state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▸"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97M SDK downloads/mo — every major client already speaks it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C77DFF"/>
                </a:solidFill>
                <a:effectLst>
                  <a:glow rad="76200">
                    <a:srgbClr val="C77DFF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flows through MCP.  VALUE flows through x402 / MPP / AP2.  Never the same wire.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FULL 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FIVE PROTOCOLS · ONE SKILL · USD1 FLOWING THROUGH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603504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07592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39FF14"/>
                </a:solidFill>
                <a:effectLst>
                  <a:glow rad="127000">
                    <a:srgbClr val="39FF14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AP2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377440" y="128930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INTENT &amp; TRUST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54533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Mandates · verifiable credentials · accountability chain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400800" y="1307592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BOT — client + server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929384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929384"/>
            <a:ext cx="54864" cy="603504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20824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002536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C77DFF"/>
                </a:solidFill>
                <a:effectLst>
                  <a:glow rad="127000">
                    <a:srgbClr val="C77D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A2A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377440" y="1984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AGENT COLLABORATION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cards · tasks · skills discovery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0" y="2002536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UPCOMING RELEASE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24328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624328"/>
            <a:ext cx="54864" cy="603504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15768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0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269748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00FF"/>
                </a:solidFill>
                <a:effectLst>
                  <a:glow rad="127000">
                    <a:srgbClr val="FF0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MPP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2377440" y="267919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SETTLEMENT &amp; SESSIONS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77440" y="29352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micropayments · budgets · one API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40080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BOT — client + server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319272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319272"/>
            <a:ext cx="54864" cy="603504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410712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392424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FF2E93"/>
                </a:solidFill>
                <a:effectLst>
                  <a:glow rad="1270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x402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377440" y="33741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PAYMENT HANDSHAKE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3630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402 · sub-2-second on-chain finality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400800" y="3392424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THE BOT — client + server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014216"/>
            <a:ext cx="8229600" cy="603504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014216"/>
            <a:ext cx="54864" cy="603504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105656"/>
            <a:ext cx="502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97280" y="40873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spc="200" kern="0" dirty="0">
                <a:solidFill>
                  <a:srgbClr val="00F0FF"/>
                </a:solidFill>
                <a:effectLst>
                  <a:glow rad="1270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MCP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2377440" y="40690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CONTEXT &amp; TOOLS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377440" y="4325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· tool invocation · FX-rates oracle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400800" y="40873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UPCOMING RELEASE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spc="200" kern="0" dirty="0">
                <a:solidFill>
                  <a:srgbClr val="FF2E93"/>
                </a:solidFill>
                <a:effectLst>
                  <a:glow rad="88900">
                    <a:srgbClr val="FF2E93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flows up.  Money flows down.  Policy gates everything.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spc="2000" kern="0" dirty="0">
                <a:solidFill>
                  <a:srgbClr val="39FF14"/>
                </a:solidFill>
                <a:effectLst>
                  <a:glow rad="1524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PART   IV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1783080"/>
            <a:ext cx="8595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spc="400" kern="0" dirty="0">
                <a:solidFill>
                  <a:srgbClr val="FFFFFF"/>
                </a:solidFill>
                <a:effectLst>
                  <a:glow rad="228600">
                    <a:srgbClr val="39FF14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TRUST &amp; SECURITY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274320" y="3429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▷  ERC-8004  ·  AGENTIC TRUST  ·  SANDBOXING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spc="100" kern="0" dirty="0">
                <a:solidFill>
                  <a:srgbClr val="39FF14"/>
                </a:solidFill>
                <a:effectLst>
                  <a:glow rad="203200">
                    <a:srgbClr val="39FF14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ERC-8004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0" y="2743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effectLst>
                  <a:glow rad="76200">
                    <a:srgbClr val="39FF14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TRUSTLESS AGENTS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0" y="685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MetaMask · EF · Google · Coinbase — A2A's on-chain trust layer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18288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22860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54864" cy="228600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25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effectLst>
                  <a:glow rad="76200">
                    <a:srgbClr val="00F0FF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IDENTITY  REGISTRY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1792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ERC-721 + URIStorage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1792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is a portable, transferable NFT. tokenURI resolves to a registration file: endpoints, wallets, supported trust models. CAIP-10 identifiers make identity cross-chain.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234440"/>
            <a:ext cx="2651760" cy="22860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34440"/>
            <a:ext cx="54864" cy="228600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325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effectLst>
                  <a:glow rad="76200">
                    <a:srgbClr val="FF2E93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REPUTATION  REGISTRY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10712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feedback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0712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clients post bounded attestations — score, tags, evidence URI + hash — on-chain as composable signals. Aggregation and Sybil filtering happen off-chain.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234440"/>
            <a:ext cx="2651760" cy="22860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234440"/>
            <a:ext cx="54864" cy="228600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3258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effectLst>
                  <a:glow rad="76200">
                    <a:srgbClr val="FFE66D">
                      <a:alpha val="6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VALIDATION  REGISTRY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99632" y="18928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independent verification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9632" y="21945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request validation of work; validator contracts respond via stake-secured re-execution, zkML verifiers, or TEE oracles. Results tracked on-chain.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657600"/>
            <a:ext cx="8229600" cy="40233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57600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F0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DEPLOYED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77440" y="3657600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0x8004… registries live on Ethereum mainnet + 20+ networks; Identity &amp; Reputation contracts audited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4133088"/>
            <a:ext cx="8229600" cy="40233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133088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77D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TRUST MODELS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4133088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composable models: reputation · crypto-economic validation · TEE attestation — pick per counterparty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608576"/>
            <a:ext cx="8229600" cy="402336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608576"/>
            <a:ext cx="1737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9FF1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 THE BOT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377440" y="4608576"/>
            <a:ext cx="6217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releases: the skill registers its on-chain identity, accrues reputation per settled tx, and links TEE attestations to the Validation Registry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AGENTIC  TRUST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PRINCIPLES — HOW AN AGENT EARNS THE RIGHT TO MOVE MONEY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05156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4416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F0FF"/>
                </a:solidFill>
                <a:effectLst>
                  <a:glow rad="76200">
                    <a:srgbClr val="00F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DON'T TRUST — VERIFY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66420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pre-existing relationships assumed. Counterparties are checked against identity, reputation, and validation signals before value moves.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28016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280160"/>
            <a:ext cx="54864" cy="105156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34416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2E93"/>
                </a:solidFill>
                <a:effectLst>
                  <a:glow rad="76200">
                    <a:srgbClr val="FF2E93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POLICY OVER DISCRETION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82312" y="166420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proposes; the deterministic policy engine disposes. Model output is never the last word on a transaction.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468880"/>
            <a:ext cx="54864" cy="105156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53288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77DFF"/>
                </a:solidFill>
                <a:effectLst>
                  <a:glow rad="76200">
                    <a:srgbClr val="C77D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KEYS OUTSIDE THE MODEL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28529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keys live in KMS / TEE — never in context, never in prompts. Prompt injection cannot exfiltrate what the model never holds.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246888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2468880"/>
            <a:ext cx="54864" cy="105156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3288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E66D"/>
                </a:solidFill>
                <a:effectLst>
                  <a:glow rad="76200">
                    <a:srgbClr val="FFE66D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LEAST PRIVILEGE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82312" y="285292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Scoped, revocable delegation: allowlists, budgets, time windows. An agent gets exactly the authority its task needs — no more.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657600"/>
            <a:ext cx="54864" cy="10515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372160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9FF14"/>
                </a:solidFill>
                <a:effectLst>
                  <a:glow rad="76200">
                    <a:srgbClr val="39FF14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VERIFIABLE 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792" y="40416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logs plus on-chain receipts close the loop: every action feeds the reputation record the next counterparty reads.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3657600"/>
            <a:ext cx="4023360" cy="10515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00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657600"/>
            <a:ext cx="54864" cy="1051560"/>
          </a:xfrm>
          <a:prstGeom prst="rect">
            <a:avLst/>
          </a:prstGeom>
          <a:solidFill>
            <a:srgbClr val="FF00FF"/>
          </a:solidFill>
          <a:ln w="12700">
            <a:solidFill>
              <a:srgbClr val="FF00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82312" y="3721608"/>
            <a:ext cx="3794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00FF"/>
                </a:solidFill>
                <a:effectLst>
                  <a:glow rad="76200">
                    <a:srgbClr val="FF00FF">
                      <a:alpha val="7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HUMAN SOVEREIGNTY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82312" y="404164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materiality thresholds, a human signs. Autonomy is graduated, earned, and always revocable.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 = identity + policy + attestation + track record — all verifiable.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SANDBOXING  THE  AGENT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ISOLATION LADDER — MATCH THE BOUNDARY TO THE THREAT MODEL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2011680" cy="118872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880360"/>
            <a:ext cx="54864" cy="118872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29535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0F0FF"/>
                </a:solidFill>
                <a:effectLst>
                  <a:glow rad="76200">
                    <a:srgbClr val="00F0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L1  CONTAINERS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85216" y="3264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namespaces · seccomp · AppArmor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216" y="3557016"/>
            <a:ext cx="1783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host kernel — for trusted code. Ships today: Docker + compose.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0" y="2468880"/>
            <a:ext cx="2011680" cy="160020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2468880"/>
            <a:ext cx="54864" cy="1600200"/>
          </a:xfrm>
          <a:prstGeom prst="rect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88336" y="254203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77DFF"/>
                </a:solidFill>
                <a:effectLst>
                  <a:glow rad="76200">
                    <a:srgbClr val="C77DFF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L2  gVISOR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88336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userspace kernel (Sentry)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88336" y="3145536"/>
            <a:ext cx="17830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Syscalls intercepted in user space; small host-syscall allowlist. Strong isolation, low overhead.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663440" y="2057400"/>
            <a:ext cx="2011680" cy="2011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E66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2057400"/>
            <a:ext cx="54864" cy="2011680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1456" y="21305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E66D"/>
                </a:solidFill>
                <a:effectLst>
                  <a:glow rad="76200">
                    <a:srgbClr val="FFE66D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L3  microVM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91456" y="2441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Firecracker · Kata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91456" y="2734056"/>
            <a:ext cx="17830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virtualization, own guest kernel per agent; ~150 ms snapshot restore. The 2026 default for untrusted code.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66560" y="1645920"/>
            <a:ext cx="2011680" cy="242316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1645920"/>
            <a:ext cx="54864" cy="242316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171907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39FF14"/>
                </a:solidFill>
                <a:effectLst>
                  <a:glow rad="76200">
                    <a:srgbClr val="39FF14">
                      <a:alpha val="8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L4  CVM / TEE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94576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Nitro Enclaves · Intel TDX · AMD SEV-SNP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94576" y="2322576"/>
            <a:ext cx="1783080" cy="1673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memory + remote attestation — even the host can't peek. Signing and key custody live here.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8229600" cy="7772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33672"/>
            <a:ext cx="78638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ATTESTATION CLOSES THE LOOP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TEE's remote-attestation quote is published to the ERC-8004 Validation Registry. Counterparties verify the agent runs the exact audited build before trusting a single payment — sandboxing becomes an on-chain trust signal.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spc="300" kern="0" dirty="0">
                <a:solidFill>
                  <a:srgbClr val="FFFFFF"/>
                </a:solidFill>
                <a:effectLst>
                  <a:glow rad="177800">
                    <a:srgbClr val="C77D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UPCOMING  RELEASES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FFE6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SHIPS NEXT — THE NEXT THREE VERSIONS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16152"/>
            <a:ext cx="7863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 TODAY  —  </a:t>
            </a:r>
            <a:pPr indent="0" marL="0">
              <a:buNone/>
            </a:pPr>
            <a:r>
              <a:rPr lang="en-US" sz="100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+ MPP + AP2 as client and server · multi-backend router · policy engine · AWS KMS custody · audit trail · human-in-the-loop · SKILL.md for every major agent client.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651760" cy="2377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54864" cy="2377440"/>
          </a:xfrm>
          <a:prstGeom prst="rect">
            <a:avLst/>
          </a:prstGeom>
          <a:solidFill>
            <a:srgbClr val="00F0FF"/>
          </a:solidFill>
          <a:ln w="12700">
            <a:solidFill>
              <a:srgbClr val="00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 +1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effectLst>
                  <a:glow rad="1143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A2A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58368" y="28346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Card published at /.well-known/agent.json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capabilities exposed for skills discovery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Bot-to-bot settlement negotiation over A2A tasks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965960"/>
            <a:ext cx="2651760" cy="2377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965960"/>
            <a:ext cx="54864" cy="2377440"/>
          </a:xfrm>
          <a:prstGeom prst="rect">
            <a:avLst/>
          </a:prstGeom>
          <a:solidFill>
            <a:srgbClr val="FF2E93"/>
          </a:solidFill>
          <a:ln w="12700">
            <a:solidFill>
              <a:srgbClr val="FF2E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2E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 +2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410712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effectLst>
                  <a:glow rad="114300">
                    <a:srgbClr val="FF2E93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MCP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47288" y="28346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FX-rates oracle served over MCP into agent context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data, chain indexers, compliance feeds — one port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Cross-currency policy normalization for limits &amp; quotes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1965960"/>
            <a:ext cx="2651760" cy="237744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965960"/>
            <a:ext cx="54864" cy="2377440"/>
          </a:xfrm>
          <a:prstGeom prst="rect">
            <a:avLst/>
          </a:prstGeom>
          <a:solidFill>
            <a:srgbClr val="39FF14"/>
          </a:solidFill>
          <a:ln w="12700">
            <a:solidFill>
              <a:srgbClr val="39FF1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9F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  +3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99632" y="23317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effectLst>
                  <a:glow rad="114300">
                    <a:srgbClr val="39FF14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TRUSTLESS AGENTS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36208" y="2834640"/>
            <a:ext cx="2331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identity, reputation &amp; validation registration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 accrual per settled transaction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950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attestation linked to the Validation Registry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spc="100" kern="0" dirty="0">
                <a:solidFill>
                  <a:srgbClr val="00F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three tracks are in active development — capability commitments, not calendar commitments.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spc="100" kern="0" dirty="0">
                <a:solidFill>
                  <a:srgbClr val="C77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Open-source core (Apache-2.0) · co-developed adapters · WLFI keeps full custody and policy control throughout.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20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800" kern="0" dirty="0">
                <a:solidFill>
                  <a:srgbClr val="00F0FF"/>
                </a:solidFill>
                <a:effectLst>
                  <a:glow rad="88900">
                    <a:srgbClr val="00F0FF">
                      <a:alpha val="75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END  OF  TRANSMISSION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1000" kern="0" dirty="0">
                <a:solidFill>
                  <a:srgbClr val="FFFFFF"/>
                </a:solidFill>
                <a:effectLst>
                  <a:glow rad="304800">
                    <a:srgbClr val="FF2E93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THE  ASK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00F0FF"/>
                </a:solidFill>
                <a:effectLst>
                  <a:glow rad="101600">
                    <a:srgbClr val="00F0FF">
                      <a:alpha val="85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Make USD1 the reserve asset of the machine economy.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DCD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co-built pilot: one skill, five protocols, three rails in both roles — policy-gated USD1 settlement.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097280" y="3017520"/>
            <a:ext cx="210312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FF2E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90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F2E93"/>
                </a:solidFill>
                <a:effectLst>
                  <a:glow rad="127000">
                    <a:srgbClr val="FF2E93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RAILS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x402 · MPP · AP2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3017520"/>
            <a:ext cx="210312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00F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3090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00F0FF"/>
                </a:solidFill>
                <a:effectLst>
                  <a:glow rad="127000">
                    <a:srgbClr val="00F0FF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DISCOVERY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A2A · MCP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3017520"/>
            <a:ext cx="2103120" cy="868680"/>
          </a:xfrm>
          <a:prstGeom prst="rect">
            <a:avLst/>
          </a:prstGeom>
          <a:solidFill>
            <a:srgbClr val="0A001A">
              <a:alpha val="15000"/>
            </a:srgbClr>
          </a:solidFill>
          <a:ln w="19050">
            <a:solidFill>
              <a:srgbClr val="39FF1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3090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39FF14"/>
                </a:solidFill>
                <a:effectLst>
                  <a:glow rad="127000">
                    <a:srgbClr val="39FF14">
                      <a:alpha val="9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TRUST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3504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CD6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ERC-8004 · TEE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1605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spc="200" kern="0" dirty="0">
                <a:solidFill>
                  <a:srgbClr val="FFE66D"/>
                </a:solidFill>
                <a:effectLst>
                  <a:glow rad="101600">
                    <a:srgbClr val="FFE66D">
                      <a:alpha val="70000"/>
                    </a:srgbClr>
                  </a:glow>
                </a:effectLst>
                <a:latin typeface="Consolas" pitchFamily="34" charset="0"/>
                <a:ea typeface="Consolas" pitchFamily="34" charset="-122"/>
                <a:cs typeface="Consolas" pitchFamily="34" charset="-120"/>
              </a:rPr>
              <a:t>The agents are here.  The dollar is ready.  Let's connect them.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" y="4617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effectLst>
                  <a:glow rad="152400">
                    <a:srgbClr val="FF00FF">
                      <a:alpha val="100000"/>
                    </a:srgbClr>
                  </a:glow>
                </a:effectLst>
                <a:latin typeface="Impact" pitchFamily="34" charset="0"/>
                <a:ea typeface="Impact" pitchFamily="34" charset="-122"/>
                <a:cs typeface="Impact" pitchFamily="34" charset="-120"/>
              </a:rPr>
              <a:t>▒  SENTIENT-AGI  ·  github.com/sentient-agi/agentic-payments-bot  ▒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Finance — Proposal for World Liberty Financial</dc:title>
  <dc:subject>PptxGenJS Presentation</dc:subject>
  <dc:creator>Sentient-AGI</dc:creator>
  <cp:lastModifiedBy>Sentient-AGI</cp:lastModifiedBy>
  <cp:revision>1</cp:revision>
  <dcterms:created xsi:type="dcterms:W3CDTF">2026-07-29T21:08:18Z</dcterms:created>
  <dcterms:modified xsi:type="dcterms:W3CDTF">2026-07-29T21:08:18Z</dcterms:modified>
</cp:coreProperties>
</file>